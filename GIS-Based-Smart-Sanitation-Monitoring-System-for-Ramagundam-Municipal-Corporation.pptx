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embeddedFontLst>
    <p:embeddedFont>
      <p:font typeface="Geist" panose="020B0604020202020204" charset="0"/>
      <p:regular r:id="rId12"/>
    </p:embeddedFont>
    <p:embeddedFont>
      <p:font typeface="Noto Serif Bold" panose="020B0604020202020204" charset="0"/>
      <p:regular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FC98B7-B820-48D4-97C1-7E4F97448686}" v="1" dt="2026-07-31T15:33:37.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3306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7.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5543550" y="0"/>
            <a:ext cx="3600450" cy="51435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496119" y="898996"/>
            <a:ext cx="4722763" cy="1771948"/>
          </a:xfrm>
          <a:prstGeom prst="rect">
            <a:avLst/>
          </a:prstGeom>
          <a:noFill/>
          <a:ln/>
        </p:spPr>
        <p:txBody>
          <a:bodyPr wrap="square" lIns="0" tIns="0" rIns="0" bIns="0" rtlCol="0" anchor="t">
            <a:normAutofit/>
          </a:bodyPr>
          <a:lstStyle/>
          <a:p>
            <a:pPr marL="0" indent="0" algn="l">
              <a:lnSpc>
                <a:spcPct val="104000"/>
              </a:lnSpc>
              <a:buNone/>
            </a:pPr>
            <a:r>
              <a:rPr lang="en-US" sz="2750" b="1" dirty="0">
                <a:solidFill>
                  <a:srgbClr val="006747"/>
                </a:solidFill>
                <a:latin typeface="Noto Serif Bold" pitchFamily="34" charset="0"/>
                <a:ea typeface="Noto Serif Bold" pitchFamily="34" charset="-122"/>
                <a:cs typeface="Noto Serif Bold" pitchFamily="34" charset="-120"/>
              </a:rPr>
              <a:t>GIS-Based Smart Sanitation Monitoring System for Ramagundam Municipal Corporation</a:t>
            </a:r>
            <a:endParaRPr lang="en-US" sz="2750" dirty="0"/>
          </a:p>
        </p:txBody>
      </p:sp>
      <p:sp>
        <p:nvSpPr>
          <p:cNvPr id="4" name="Text 1"/>
          <p:cNvSpPr/>
          <p:nvPr/>
        </p:nvSpPr>
        <p:spPr>
          <a:xfrm>
            <a:off x="496119" y="2883545"/>
            <a:ext cx="4722763"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B4A4A"/>
                </a:solidFill>
                <a:latin typeface="Geist" pitchFamily="34" charset="0"/>
                <a:ea typeface="Geist" pitchFamily="34" charset="-122"/>
                <a:cs typeface="Geist" pitchFamily="34" charset="-120"/>
              </a:rPr>
              <a:t>Ramagundam Municipal Corporation — a digital solution for real-time monitoring of road cleaning, garbage vulnerable points, SBM toilets, and parks maintenance using GIS, mobile capture, and centralized dashboards. Designed for municipal officials, engineers, sanitary inspectors, and field staff to increase transparency, speed verification, and improve operational efficiency.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3600450" cy="51435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3925119" y="400943"/>
            <a:ext cx="4722763" cy="586829"/>
          </a:xfrm>
          <a:prstGeom prst="rect">
            <a:avLst/>
          </a:prstGeom>
          <a:noFill/>
          <a:ln/>
        </p:spPr>
        <p:txBody>
          <a:bodyPr wrap="square" lIns="0" tIns="0" rIns="0" bIns="0" rtlCol="0" anchor="t">
            <a:normAutofit/>
          </a:bodyPr>
          <a:lstStyle/>
          <a:p>
            <a:pPr marL="0" indent="0" algn="l">
              <a:lnSpc>
                <a:spcPct val="104000"/>
              </a:lnSpc>
              <a:buNone/>
            </a:pPr>
            <a:r>
              <a:rPr lang="en-US" sz="1800" b="1" dirty="0">
                <a:solidFill>
                  <a:srgbClr val="006747"/>
                </a:solidFill>
                <a:latin typeface="Noto Serif Bold" pitchFamily="34" charset="0"/>
                <a:ea typeface="Noto Serif Bold" pitchFamily="34" charset="-122"/>
                <a:cs typeface="Noto Serif Bold" pitchFamily="34" charset="-120"/>
              </a:rPr>
              <a:t>Problems in the Existing Manual Monitoring System</a:t>
            </a:r>
            <a:endParaRPr lang="en-US" sz="1800" dirty="0"/>
          </a:p>
        </p:txBody>
      </p:sp>
      <p:sp>
        <p:nvSpPr>
          <p:cNvPr id="4" name="Text 1"/>
          <p:cNvSpPr/>
          <p:nvPr/>
        </p:nvSpPr>
        <p:spPr>
          <a:xfrm>
            <a:off x="3925119" y="1133549"/>
            <a:ext cx="4722763" cy="515020"/>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4B4A4A"/>
                </a:solidFill>
                <a:latin typeface="Geist" pitchFamily="34" charset="0"/>
                <a:ea typeface="Geist" pitchFamily="34" charset="-122"/>
                <a:cs typeface="Geist" pitchFamily="34" charset="-120"/>
              </a:rPr>
              <a:t>Current manual monitoring relies on field inspections and paper records, causing delays, incomplete coverage, and weak accountability across sanitation assets. These constraints limit rapid decision-making and make historical recordkeeping difficult.</a:t>
            </a:r>
            <a:endParaRPr lang="en-US" sz="9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25119" y="1757883"/>
            <a:ext cx="2312789" cy="1529581"/>
          </a:xfrm>
          <a:prstGeom prst="rect">
            <a:avLst/>
          </a:prstGeom>
        </p:spPr>
      </p:pic>
      <p:sp>
        <p:nvSpPr>
          <p:cNvPr id="6" name="Text 2"/>
          <p:cNvSpPr/>
          <p:nvPr/>
        </p:nvSpPr>
        <p:spPr>
          <a:xfrm>
            <a:off x="5011080" y="1845915"/>
            <a:ext cx="140866" cy="176064"/>
          </a:xfrm>
          <a:prstGeom prst="rect">
            <a:avLst/>
          </a:prstGeom>
          <a:noFill/>
          <a:ln/>
        </p:spPr>
        <p:txBody>
          <a:bodyPr wrap="none" lIns="0" tIns="0" rIns="0" bIns="0" rtlCol="0" anchor="ctr"/>
          <a:lstStyle/>
          <a:p>
            <a:pPr marL="0" indent="0" algn="ctr">
              <a:lnSpc>
                <a:spcPct val="100000"/>
              </a:lnSpc>
              <a:buNone/>
            </a:pPr>
            <a:r>
              <a:rPr lang="en-US" sz="1100" b="1" dirty="0">
                <a:solidFill>
                  <a:srgbClr val="FFFFFF"/>
                </a:solidFill>
                <a:latin typeface="Noto Serif Bold" pitchFamily="34" charset="0"/>
                <a:ea typeface="Noto Serif Bold" pitchFamily="34" charset="-122"/>
                <a:cs typeface="Noto Serif Bold" pitchFamily="34" charset="-120"/>
              </a:rPr>
              <a:t>1</a:t>
            </a:r>
            <a:endParaRPr lang="en-US" sz="1100" dirty="0"/>
          </a:p>
        </p:txBody>
      </p:sp>
      <p:sp>
        <p:nvSpPr>
          <p:cNvPr id="7" name="Text 3"/>
          <p:cNvSpPr/>
          <p:nvPr/>
        </p:nvSpPr>
        <p:spPr>
          <a:xfrm>
            <a:off x="4056757" y="2227436"/>
            <a:ext cx="2049512" cy="183431"/>
          </a:xfrm>
          <a:prstGeom prst="rect">
            <a:avLst/>
          </a:prstGeom>
          <a:noFill/>
          <a:ln/>
        </p:spPr>
        <p:txBody>
          <a:bodyPr wrap="none" lIns="0" tIns="0" rIns="0" bIns="0" rtlCol="0" anchor="t"/>
          <a:lstStyle/>
          <a:p>
            <a:pPr marL="0" indent="0" algn="l">
              <a:lnSpc>
                <a:spcPct val="104000"/>
              </a:lnSpc>
              <a:buNone/>
            </a:pPr>
            <a:r>
              <a:rPr lang="en-US" sz="1150" b="1" dirty="0">
                <a:solidFill>
                  <a:srgbClr val="4B4A4A"/>
                </a:solidFill>
                <a:latin typeface="Noto Serif Bold" pitchFamily="34" charset="0"/>
                <a:ea typeface="Noto Serif Bold" pitchFamily="34" charset="-122"/>
                <a:cs typeface="Noto Serif Bold" pitchFamily="34" charset="-120"/>
              </a:rPr>
              <a:t>Operational Burden</a:t>
            </a:r>
            <a:endParaRPr lang="en-US" sz="1150" dirty="0"/>
          </a:p>
        </p:txBody>
      </p:sp>
      <p:sp>
        <p:nvSpPr>
          <p:cNvPr id="8" name="Text 4"/>
          <p:cNvSpPr/>
          <p:nvPr/>
        </p:nvSpPr>
        <p:spPr>
          <a:xfrm>
            <a:off x="4056757" y="2469133"/>
            <a:ext cx="2049512" cy="686693"/>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4B4A4A"/>
                </a:solidFill>
                <a:latin typeface="Geist" pitchFamily="34" charset="0"/>
                <a:ea typeface="Geist" pitchFamily="34" charset="-122"/>
                <a:cs typeface="Geist" pitchFamily="34" charset="-120"/>
              </a:rPr>
              <a:t>Managing roads, garbage vulnerable points, SBM toilets, and parks through manual inspections is time-consuming and manpower-intensive.</a:t>
            </a:r>
            <a:endParaRPr lang="en-US" sz="9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35092" y="1757883"/>
            <a:ext cx="2312789" cy="1529581"/>
          </a:xfrm>
          <a:prstGeom prst="rect">
            <a:avLst/>
          </a:prstGeom>
        </p:spPr>
      </p:pic>
      <p:sp>
        <p:nvSpPr>
          <p:cNvPr id="10" name="Text 5"/>
          <p:cNvSpPr/>
          <p:nvPr/>
        </p:nvSpPr>
        <p:spPr>
          <a:xfrm>
            <a:off x="7421054" y="1845915"/>
            <a:ext cx="140866" cy="176064"/>
          </a:xfrm>
          <a:prstGeom prst="rect">
            <a:avLst/>
          </a:prstGeom>
          <a:noFill/>
          <a:ln/>
        </p:spPr>
        <p:txBody>
          <a:bodyPr wrap="none" lIns="0" tIns="0" rIns="0" bIns="0" rtlCol="0" anchor="ctr"/>
          <a:lstStyle/>
          <a:p>
            <a:pPr marL="0" indent="0" algn="ctr">
              <a:lnSpc>
                <a:spcPct val="100000"/>
              </a:lnSpc>
              <a:buNone/>
            </a:pPr>
            <a:r>
              <a:rPr lang="en-US" sz="1100" b="1" dirty="0">
                <a:solidFill>
                  <a:srgbClr val="FFFFFF"/>
                </a:solidFill>
                <a:latin typeface="Noto Serif Bold" pitchFamily="34" charset="0"/>
                <a:ea typeface="Noto Serif Bold" pitchFamily="34" charset="-122"/>
                <a:cs typeface="Noto Serif Bold" pitchFamily="34" charset="-120"/>
              </a:rPr>
              <a:t>2</a:t>
            </a:r>
            <a:endParaRPr lang="en-US" sz="1100" dirty="0"/>
          </a:p>
        </p:txBody>
      </p:sp>
      <p:sp>
        <p:nvSpPr>
          <p:cNvPr id="11" name="Text 6"/>
          <p:cNvSpPr/>
          <p:nvPr/>
        </p:nvSpPr>
        <p:spPr>
          <a:xfrm>
            <a:off x="6466731" y="2227436"/>
            <a:ext cx="2049512" cy="183431"/>
          </a:xfrm>
          <a:prstGeom prst="rect">
            <a:avLst/>
          </a:prstGeom>
          <a:noFill/>
          <a:ln/>
        </p:spPr>
        <p:txBody>
          <a:bodyPr wrap="none" lIns="0" tIns="0" rIns="0" bIns="0" rtlCol="0" anchor="t"/>
          <a:lstStyle/>
          <a:p>
            <a:pPr marL="0" indent="0" algn="l">
              <a:lnSpc>
                <a:spcPct val="104000"/>
              </a:lnSpc>
              <a:buNone/>
            </a:pPr>
            <a:r>
              <a:rPr lang="en-US" sz="1150" b="1" dirty="0">
                <a:solidFill>
                  <a:srgbClr val="4B4A4A"/>
                </a:solidFill>
                <a:latin typeface="Noto Serif Bold" pitchFamily="34" charset="0"/>
                <a:ea typeface="Noto Serif Bold" pitchFamily="34" charset="-122"/>
                <a:cs typeface="Noto Serif Bold" pitchFamily="34" charset="-120"/>
              </a:rPr>
              <a:t>Reporting Delays</a:t>
            </a:r>
            <a:endParaRPr lang="en-US" sz="1150" dirty="0"/>
          </a:p>
        </p:txBody>
      </p:sp>
      <p:sp>
        <p:nvSpPr>
          <p:cNvPr id="12" name="Text 7"/>
          <p:cNvSpPr/>
          <p:nvPr/>
        </p:nvSpPr>
        <p:spPr>
          <a:xfrm>
            <a:off x="6466731" y="2469133"/>
            <a:ext cx="2049512" cy="515020"/>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4B4A4A"/>
                </a:solidFill>
                <a:latin typeface="Geist" pitchFamily="34" charset="0"/>
                <a:ea typeface="Geist" pitchFamily="34" charset="-122"/>
                <a:cs typeface="Geist" pitchFamily="34" charset="-120"/>
              </a:rPr>
              <a:t>Paper-based workflows across sanitation categories cause late updates and slow verification.</a:t>
            </a:r>
            <a:endParaRPr lang="en-US" sz="9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25119" y="3384649"/>
            <a:ext cx="2312789" cy="1357908"/>
          </a:xfrm>
          <a:prstGeom prst="rect">
            <a:avLst/>
          </a:prstGeom>
        </p:spPr>
      </p:pic>
      <p:sp>
        <p:nvSpPr>
          <p:cNvPr id="14" name="Text 8"/>
          <p:cNvSpPr/>
          <p:nvPr/>
        </p:nvSpPr>
        <p:spPr>
          <a:xfrm>
            <a:off x="5011080" y="3472681"/>
            <a:ext cx="140866" cy="176064"/>
          </a:xfrm>
          <a:prstGeom prst="rect">
            <a:avLst/>
          </a:prstGeom>
          <a:noFill/>
          <a:ln/>
        </p:spPr>
        <p:txBody>
          <a:bodyPr wrap="none" lIns="0" tIns="0" rIns="0" bIns="0" rtlCol="0" anchor="ctr"/>
          <a:lstStyle/>
          <a:p>
            <a:pPr marL="0" indent="0" algn="ctr">
              <a:lnSpc>
                <a:spcPct val="100000"/>
              </a:lnSpc>
              <a:buNone/>
            </a:pPr>
            <a:r>
              <a:rPr lang="en-US" sz="1100" b="1" dirty="0">
                <a:solidFill>
                  <a:srgbClr val="FFFFFF"/>
                </a:solidFill>
                <a:latin typeface="Noto Serif Bold" pitchFamily="34" charset="0"/>
                <a:ea typeface="Noto Serif Bold" pitchFamily="34" charset="-122"/>
                <a:cs typeface="Noto Serif Bold" pitchFamily="34" charset="-120"/>
              </a:rPr>
              <a:t>3</a:t>
            </a:r>
            <a:endParaRPr lang="en-US" sz="1100" dirty="0"/>
          </a:p>
        </p:txBody>
      </p:sp>
      <p:sp>
        <p:nvSpPr>
          <p:cNvPr id="15" name="Text 9"/>
          <p:cNvSpPr/>
          <p:nvPr/>
        </p:nvSpPr>
        <p:spPr>
          <a:xfrm>
            <a:off x="4056757" y="3854202"/>
            <a:ext cx="2049512" cy="183431"/>
          </a:xfrm>
          <a:prstGeom prst="rect">
            <a:avLst/>
          </a:prstGeom>
          <a:noFill/>
          <a:ln/>
        </p:spPr>
        <p:txBody>
          <a:bodyPr wrap="none" lIns="0" tIns="0" rIns="0" bIns="0" rtlCol="0" anchor="t"/>
          <a:lstStyle/>
          <a:p>
            <a:pPr marL="0" indent="0" algn="l">
              <a:lnSpc>
                <a:spcPct val="104000"/>
              </a:lnSpc>
              <a:buNone/>
            </a:pPr>
            <a:r>
              <a:rPr lang="en-US" sz="1150" b="1" dirty="0">
                <a:solidFill>
                  <a:srgbClr val="4B4A4A"/>
                </a:solidFill>
                <a:latin typeface="Noto Serif Bold" pitchFamily="34" charset="0"/>
                <a:ea typeface="Noto Serif Bold" pitchFamily="34" charset="-122"/>
                <a:cs typeface="Noto Serif Bold" pitchFamily="34" charset="-120"/>
              </a:rPr>
              <a:t>Limited Visibility</a:t>
            </a:r>
            <a:endParaRPr lang="en-US" sz="1150" dirty="0"/>
          </a:p>
        </p:txBody>
      </p:sp>
      <p:sp>
        <p:nvSpPr>
          <p:cNvPr id="16" name="Text 10"/>
          <p:cNvSpPr/>
          <p:nvPr/>
        </p:nvSpPr>
        <p:spPr>
          <a:xfrm>
            <a:off x="4056757" y="4095899"/>
            <a:ext cx="2049512" cy="515020"/>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4B4A4A"/>
                </a:solidFill>
                <a:latin typeface="Geist" pitchFamily="34" charset="0"/>
                <a:ea typeface="Geist" pitchFamily="34" charset="-122"/>
                <a:cs typeface="Geist" pitchFamily="34" charset="-120"/>
              </a:rPr>
              <a:t>No unified view across all sanitation assets and divisions; supervisors lack a single source of truth.</a:t>
            </a:r>
            <a:endParaRPr lang="en-US" sz="90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35092" y="3384649"/>
            <a:ext cx="2312789" cy="1357908"/>
          </a:xfrm>
          <a:prstGeom prst="rect">
            <a:avLst/>
          </a:prstGeom>
        </p:spPr>
      </p:pic>
      <p:sp>
        <p:nvSpPr>
          <p:cNvPr id="18" name="Text 11"/>
          <p:cNvSpPr/>
          <p:nvPr/>
        </p:nvSpPr>
        <p:spPr>
          <a:xfrm>
            <a:off x="7421054" y="3472681"/>
            <a:ext cx="140866" cy="176064"/>
          </a:xfrm>
          <a:prstGeom prst="rect">
            <a:avLst/>
          </a:prstGeom>
          <a:noFill/>
          <a:ln/>
        </p:spPr>
        <p:txBody>
          <a:bodyPr wrap="none" lIns="0" tIns="0" rIns="0" bIns="0" rtlCol="0" anchor="ctr"/>
          <a:lstStyle/>
          <a:p>
            <a:pPr marL="0" indent="0" algn="ctr">
              <a:lnSpc>
                <a:spcPct val="100000"/>
              </a:lnSpc>
              <a:buNone/>
            </a:pPr>
            <a:r>
              <a:rPr lang="en-US" sz="1100" b="1" dirty="0">
                <a:solidFill>
                  <a:srgbClr val="FFFFFF"/>
                </a:solidFill>
                <a:latin typeface="Noto Serif Bold" pitchFamily="34" charset="0"/>
                <a:ea typeface="Noto Serif Bold" pitchFamily="34" charset="-122"/>
                <a:cs typeface="Noto Serif Bold" pitchFamily="34" charset="-120"/>
              </a:rPr>
              <a:t>4</a:t>
            </a:r>
            <a:endParaRPr lang="en-US" sz="1100" dirty="0"/>
          </a:p>
        </p:txBody>
      </p:sp>
      <p:sp>
        <p:nvSpPr>
          <p:cNvPr id="19" name="Text 12"/>
          <p:cNvSpPr/>
          <p:nvPr/>
        </p:nvSpPr>
        <p:spPr>
          <a:xfrm>
            <a:off x="6466731" y="3854202"/>
            <a:ext cx="2049512" cy="183431"/>
          </a:xfrm>
          <a:prstGeom prst="rect">
            <a:avLst/>
          </a:prstGeom>
          <a:noFill/>
          <a:ln/>
        </p:spPr>
        <p:txBody>
          <a:bodyPr wrap="none" lIns="0" tIns="0" rIns="0" bIns="0" rtlCol="0" anchor="t"/>
          <a:lstStyle/>
          <a:p>
            <a:pPr marL="0" indent="0" algn="l">
              <a:lnSpc>
                <a:spcPct val="104000"/>
              </a:lnSpc>
              <a:buNone/>
            </a:pPr>
            <a:r>
              <a:rPr lang="en-US" sz="1150" b="1" dirty="0">
                <a:solidFill>
                  <a:srgbClr val="4B4A4A"/>
                </a:solidFill>
                <a:latin typeface="Noto Serif Bold" pitchFamily="34" charset="0"/>
                <a:ea typeface="Noto Serif Bold" pitchFamily="34" charset="-122"/>
                <a:cs typeface="Noto Serif Bold" pitchFamily="34" charset="-120"/>
              </a:rPr>
              <a:t>Accountability Gaps</a:t>
            </a:r>
            <a:endParaRPr lang="en-US" sz="1150" dirty="0"/>
          </a:p>
        </p:txBody>
      </p:sp>
      <p:sp>
        <p:nvSpPr>
          <p:cNvPr id="20" name="Text 13"/>
          <p:cNvSpPr/>
          <p:nvPr/>
        </p:nvSpPr>
        <p:spPr>
          <a:xfrm>
            <a:off x="6466731" y="4095899"/>
            <a:ext cx="2049512" cy="515020"/>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4B4A4A"/>
                </a:solidFill>
                <a:latin typeface="Geist" pitchFamily="34" charset="0"/>
                <a:ea typeface="Geist" pitchFamily="34" charset="-122"/>
                <a:cs typeface="Geist" pitchFamily="34" charset="-120"/>
              </a:rPr>
              <a:t>Difficulty tracking completion across multiple asset types and maintaining auditable digital records.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661615"/>
            <a:ext cx="8151763" cy="354360"/>
          </a:xfrm>
          <a:prstGeom prst="rect">
            <a:avLst/>
          </a:prstGeom>
          <a:noFill/>
          <a:ln/>
        </p:spPr>
        <p:txBody>
          <a:bodyPr wrap="none" lIns="0" tIns="0" rIns="0" bIns="0" rtlCol="0" anchor="t"/>
          <a:lstStyle/>
          <a:p>
            <a:pPr marL="0" indent="0" algn="l">
              <a:lnSpc>
                <a:spcPct val="104000"/>
              </a:lnSpc>
              <a:buNone/>
            </a:pPr>
            <a:r>
              <a:rPr lang="en-US" sz="2200" b="1" dirty="0">
                <a:solidFill>
                  <a:srgbClr val="006747"/>
                </a:solidFill>
                <a:latin typeface="Noto Serif Bold" pitchFamily="34" charset="0"/>
                <a:ea typeface="Noto Serif Bold" pitchFamily="34" charset="-122"/>
                <a:cs typeface="Noto Serif Bold" pitchFamily="34" charset="-120"/>
              </a:rPr>
              <a:t>Proposed Smart Monitoring Solution</a:t>
            </a:r>
            <a:endParaRPr lang="en-US" sz="2200" dirty="0"/>
          </a:p>
        </p:txBody>
      </p:sp>
      <p:sp>
        <p:nvSpPr>
          <p:cNvPr id="3" name="Text 1"/>
          <p:cNvSpPr/>
          <p:nvPr/>
        </p:nvSpPr>
        <p:spPr>
          <a:xfrm>
            <a:off x="496119" y="1299493"/>
            <a:ext cx="815176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B4A4A"/>
                </a:solidFill>
                <a:latin typeface="Geist" pitchFamily="34" charset="0"/>
                <a:ea typeface="Geist" pitchFamily="34" charset="-122"/>
                <a:cs typeface="Geist" pitchFamily="34" charset="-120"/>
              </a:rPr>
              <a:t>Transform manual inspection into a secure, GIS-enabled mobile workflow across all sanitation assets. Field staff capture geo-tagged photos after completing work on roads, garbage vulnerable points, SBM toilets, and parks; supervisors and commissioners monitor progress via centralized dashboards for timely verification and informed decisions.</a:t>
            </a:r>
            <a:endParaRPr lang="en-US" sz="1100" dirty="0"/>
          </a:p>
        </p:txBody>
      </p:sp>
      <p:pic>
        <p:nvPicPr>
          <p:cNvPr id="4" name="Image 0" descr="preencoded.png"/>
          <p:cNvPicPr>
            <a:picLocks noChangeAspect="1"/>
          </p:cNvPicPr>
          <p:nvPr/>
        </p:nvPicPr>
        <p:blipFill>
          <a:blip r:embed="rId3"/>
          <a:stretch>
            <a:fillRect/>
          </a:stretch>
        </p:blipFill>
        <p:spPr>
          <a:xfrm>
            <a:off x="496119" y="2139404"/>
            <a:ext cx="753740" cy="942156"/>
          </a:xfrm>
          <a:prstGeom prst="rect">
            <a:avLst/>
          </a:prstGeom>
        </p:spPr>
      </p:pic>
      <p:sp>
        <p:nvSpPr>
          <p:cNvPr id="5" name="Text 2"/>
          <p:cNvSpPr/>
          <p:nvPr/>
        </p:nvSpPr>
        <p:spPr>
          <a:xfrm>
            <a:off x="1427038" y="2139404"/>
            <a:ext cx="1668214" cy="442913"/>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Digital Records &amp; Traceability</a:t>
            </a:r>
            <a:endParaRPr lang="en-US" sz="1350" dirty="0"/>
          </a:p>
        </p:txBody>
      </p:sp>
      <p:sp>
        <p:nvSpPr>
          <p:cNvPr id="6" name="Text 3"/>
          <p:cNvSpPr/>
          <p:nvPr/>
        </p:nvSpPr>
        <p:spPr>
          <a:xfrm>
            <a:off x="1427038" y="2667372"/>
            <a:ext cx="1668214" cy="158769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B4A4A"/>
                </a:solidFill>
                <a:latin typeface="Geist" pitchFamily="34" charset="0"/>
                <a:ea typeface="Geist" pitchFamily="34" charset="-122"/>
                <a:cs typeface="Geist" pitchFamily="34" charset="-120"/>
              </a:rPr>
              <a:t>Every road, garbage vulnerable point, SBM toilet, and park update is stored with GPS, timestamp, and photo for audit and historical analytics.</a:t>
            </a:r>
            <a:endParaRPr lang="en-US" sz="1100" dirty="0"/>
          </a:p>
        </p:txBody>
      </p:sp>
      <p:pic>
        <p:nvPicPr>
          <p:cNvPr id="7" name="Image 1" descr="preencoded.png"/>
          <p:cNvPicPr>
            <a:picLocks noChangeAspect="1"/>
          </p:cNvPicPr>
          <p:nvPr/>
        </p:nvPicPr>
        <p:blipFill>
          <a:blip r:embed="rId4"/>
          <a:stretch>
            <a:fillRect/>
          </a:stretch>
        </p:blipFill>
        <p:spPr>
          <a:xfrm>
            <a:off x="3272433" y="2139404"/>
            <a:ext cx="753740" cy="942156"/>
          </a:xfrm>
          <a:prstGeom prst="rect">
            <a:avLst/>
          </a:prstGeom>
        </p:spPr>
      </p:pic>
      <p:sp>
        <p:nvSpPr>
          <p:cNvPr id="8" name="Text 4"/>
          <p:cNvSpPr/>
          <p:nvPr/>
        </p:nvSpPr>
        <p:spPr>
          <a:xfrm>
            <a:off x="4203353" y="2139404"/>
            <a:ext cx="1668214" cy="442913"/>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Real-time GIS Visualization</a:t>
            </a:r>
            <a:endParaRPr lang="en-US" sz="1350" dirty="0"/>
          </a:p>
        </p:txBody>
      </p:sp>
      <p:sp>
        <p:nvSpPr>
          <p:cNvPr id="9" name="Text 5"/>
          <p:cNvSpPr/>
          <p:nvPr/>
        </p:nvSpPr>
        <p:spPr>
          <a:xfrm>
            <a:off x="4203353" y="2667372"/>
            <a:ext cx="1668214" cy="1814513"/>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B4A4A"/>
                </a:solidFill>
                <a:latin typeface="Geist" pitchFamily="34" charset="0"/>
                <a:ea typeface="Geist" pitchFamily="34" charset="-122"/>
                <a:cs typeface="Geist" pitchFamily="34" charset="-120"/>
              </a:rPr>
              <a:t>Color-coded asset layers provide instant insight into pending, awaiting verification, and verified work across roads, garbage vulnerable points, SBM toilets, and parks.</a:t>
            </a:r>
            <a:endParaRPr lang="en-US" sz="1100" dirty="0"/>
          </a:p>
        </p:txBody>
      </p:sp>
      <p:pic>
        <p:nvPicPr>
          <p:cNvPr id="10" name="Image 2" descr="preencoded.png"/>
          <p:cNvPicPr>
            <a:picLocks noChangeAspect="1"/>
          </p:cNvPicPr>
          <p:nvPr/>
        </p:nvPicPr>
        <p:blipFill>
          <a:blip r:embed="rId5"/>
          <a:stretch>
            <a:fillRect/>
          </a:stretch>
        </p:blipFill>
        <p:spPr>
          <a:xfrm>
            <a:off x="6048747" y="2139404"/>
            <a:ext cx="753740" cy="942156"/>
          </a:xfrm>
          <a:prstGeom prst="rect">
            <a:avLst/>
          </a:prstGeom>
        </p:spPr>
      </p:pic>
      <p:sp>
        <p:nvSpPr>
          <p:cNvPr id="11" name="Text 6"/>
          <p:cNvSpPr/>
          <p:nvPr/>
        </p:nvSpPr>
        <p:spPr>
          <a:xfrm>
            <a:off x="6979667" y="2139404"/>
            <a:ext cx="1668214" cy="442913"/>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Faster Verification</a:t>
            </a:r>
            <a:endParaRPr lang="en-US" sz="1350" dirty="0"/>
          </a:p>
        </p:txBody>
      </p:sp>
      <p:sp>
        <p:nvSpPr>
          <p:cNvPr id="12" name="Text 7"/>
          <p:cNvSpPr/>
          <p:nvPr/>
        </p:nvSpPr>
        <p:spPr>
          <a:xfrm>
            <a:off x="6979667" y="2667372"/>
            <a:ext cx="1668214"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B4A4A"/>
                </a:solidFill>
                <a:latin typeface="Geist" pitchFamily="34" charset="0"/>
                <a:ea typeface="Geist" pitchFamily="34" charset="-122"/>
                <a:cs typeface="Geist" pitchFamily="34" charset="-120"/>
              </a:rPr>
              <a:t>Supervisors validate submissions quickly from the portal, reducing turnaround time for approvals across all monitored asset types.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397520"/>
            <a:ext cx="8151763" cy="3668241"/>
          </a:xfrm>
          <a:prstGeom prst="rect">
            <a:avLst/>
          </a:prstGeom>
        </p:spPr>
      </p:pic>
      <p:sp>
        <p:nvSpPr>
          <p:cNvPr id="3" name="Text 0"/>
          <p:cNvSpPr/>
          <p:nvPr/>
        </p:nvSpPr>
        <p:spPr>
          <a:xfrm>
            <a:off x="1724067" y="312893"/>
            <a:ext cx="1426538" cy="220447"/>
          </a:xfrm>
          <a:prstGeom prst="rect">
            <a:avLst/>
          </a:prstGeom>
          <a:noFill/>
          <a:ln/>
        </p:spPr>
        <p:txBody>
          <a:bodyPr wrap="none" lIns="0" tIns="0" rIns="0" bIns="0" rtlCol="0" anchor="t"/>
          <a:lstStyle/>
          <a:p>
            <a:pPr marL="0" indent="0" algn="ctr">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Assign Task</a:t>
            </a:r>
            <a:endParaRPr lang="en-US" sz="1350" dirty="0"/>
          </a:p>
        </p:txBody>
      </p:sp>
      <p:sp>
        <p:nvSpPr>
          <p:cNvPr id="4" name="Text 1"/>
          <p:cNvSpPr/>
          <p:nvPr/>
        </p:nvSpPr>
        <p:spPr>
          <a:xfrm>
            <a:off x="1724067" y="596045"/>
            <a:ext cx="1426538" cy="826677"/>
          </a:xfrm>
          <a:prstGeom prst="rect">
            <a:avLst/>
          </a:prstGeom>
          <a:noFill/>
          <a:ln/>
        </p:spPr>
        <p:txBody>
          <a:bodyPr wrap="square" lIns="0" tIns="0" rIns="0" bIns="0" rtlCol="0" anchor="t">
            <a:normAutofit/>
          </a:bodyPr>
          <a:lstStyle/>
          <a:p>
            <a:pPr marL="0" indent="0" algn="ctr">
              <a:lnSpc>
                <a:spcPct val="98000"/>
              </a:lnSpc>
              <a:buNone/>
            </a:pPr>
            <a:r>
              <a:rPr lang="en-US" sz="1100" dirty="0">
                <a:solidFill>
                  <a:srgbClr val="4B4A4A"/>
                </a:solidFill>
                <a:latin typeface="Geist" pitchFamily="34" charset="0"/>
                <a:ea typeface="Geist" pitchFamily="34" charset="-122"/>
                <a:cs typeface="Geist" pitchFamily="34" charset="-120"/>
              </a:rPr>
              <a:t>Dispatch Jawan with task type (road/garbage point/toilet/park) and metadata</a:t>
            </a:r>
            <a:endParaRPr lang="en-US" sz="1100" dirty="0"/>
          </a:p>
        </p:txBody>
      </p:sp>
      <p:sp>
        <p:nvSpPr>
          <p:cNvPr id="5" name="Text 2"/>
          <p:cNvSpPr/>
          <p:nvPr/>
        </p:nvSpPr>
        <p:spPr>
          <a:xfrm>
            <a:off x="3134929" y="3229409"/>
            <a:ext cx="1434376" cy="220447"/>
          </a:xfrm>
          <a:prstGeom prst="rect">
            <a:avLst/>
          </a:prstGeom>
          <a:noFill/>
          <a:ln/>
        </p:spPr>
        <p:txBody>
          <a:bodyPr wrap="none" lIns="0" tIns="0" rIns="0" bIns="0" rtlCol="0" anchor="t"/>
          <a:lstStyle/>
          <a:p>
            <a:pPr marL="0" indent="0" algn="ctr">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Complete Work</a:t>
            </a:r>
            <a:endParaRPr lang="en-US" sz="1350" dirty="0"/>
          </a:p>
        </p:txBody>
      </p:sp>
      <p:sp>
        <p:nvSpPr>
          <p:cNvPr id="6" name="Text 3"/>
          <p:cNvSpPr/>
          <p:nvPr/>
        </p:nvSpPr>
        <p:spPr>
          <a:xfrm>
            <a:off x="3134929" y="3512561"/>
            <a:ext cx="1434376" cy="496006"/>
          </a:xfrm>
          <a:prstGeom prst="rect">
            <a:avLst/>
          </a:prstGeom>
          <a:noFill/>
          <a:ln/>
        </p:spPr>
        <p:txBody>
          <a:bodyPr wrap="square" lIns="0" tIns="0" rIns="0" bIns="0" rtlCol="0" anchor="t">
            <a:normAutofit/>
          </a:bodyPr>
          <a:lstStyle/>
          <a:p>
            <a:pPr marL="0" indent="0" algn="ctr">
              <a:lnSpc>
                <a:spcPct val="98000"/>
              </a:lnSpc>
              <a:buNone/>
            </a:pPr>
            <a:r>
              <a:rPr lang="en-US" sz="1100" dirty="0">
                <a:solidFill>
                  <a:srgbClr val="4B4A4A"/>
                </a:solidFill>
                <a:latin typeface="Geist" pitchFamily="34" charset="0"/>
                <a:ea typeface="Geist" pitchFamily="34" charset="-122"/>
                <a:cs typeface="Geist" pitchFamily="34" charset="-120"/>
              </a:rPr>
              <a:t>Jawan performs assigned sanitation work and records job</a:t>
            </a:r>
            <a:endParaRPr lang="en-US" sz="1100" dirty="0"/>
          </a:p>
        </p:txBody>
      </p:sp>
      <p:sp>
        <p:nvSpPr>
          <p:cNvPr id="7" name="Text 4"/>
          <p:cNvSpPr/>
          <p:nvPr/>
        </p:nvSpPr>
        <p:spPr>
          <a:xfrm>
            <a:off x="4530115" y="450795"/>
            <a:ext cx="1426538" cy="220447"/>
          </a:xfrm>
          <a:prstGeom prst="rect">
            <a:avLst/>
          </a:prstGeom>
          <a:noFill/>
          <a:ln/>
        </p:spPr>
        <p:txBody>
          <a:bodyPr wrap="none" lIns="0" tIns="0" rIns="0" bIns="0" rtlCol="0" anchor="t"/>
          <a:lstStyle/>
          <a:p>
            <a:pPr marL="0" indent="0" algn="ctr">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Upload Photo</a:t>
            </a:r>
            <a:endParaRPr lang="en-US" sz="1350" dirty="0"/>
          </a:p>
        </p:txBody>
      </p:sp>
      <p:sp>
        <p:nvSpPr>
          <p:cNvPr id="8" name="Text 5"/>
          <p:cNvSpPr/>
          <p:nvPr/>
        </p:nvSpPr>
        <p:spPr>
          <a:xfrm>
            <a:off x="4530115" y="733947"/>
            <a:ext cx="1426538" cy="496006"/>
          </a:xfrm>
          <a:prstGeom prst="rect">
            <a:avLst/>
          </a:prstGeom>
          <a:noFill/>
          <a:ln/>
        </p:spPr>
        <p:txBody>
          <a:bodyPr wrap="square" lIns="0" tIns="0" rIns="0" bIns="0" rtlCol="0" anchor="t">
            <a:normAutofit/>
          </a:bodyPr>
          <a:lstStyle/>
          <a:p>
            <a:pPr marL="0" indent="0" algn="ctr">
              <a:lnSpc>
                <a:spcPct val="98000"/>
              </a:lnSpc>
              <a:buNone/>
            </a:pPr>
            <a:r>
              <a:rPr lang="en-US" sz="1100" dirty="0">
                <a:solidFill>
                  <a:srgbClr val="4B4A4A"/>
                </a:solidFill>
                <a:latin typeface="Geist" pitchFamily="34" charset="0"/>
                <a:ea typeface="Geist" pitchFamily="34" charset="-122"/>
                <a:cs typeface="Geist" pitchFamily="34" charset="-120"/>
              </a:rPr>
              <a:t>Geo-tagged photo with GPS, timestamp, and asset type</a:t>
            </a:r>
            <a:endParaRPr lang="en-US" sz="1100" dirty="0"/>
          </a:p>
        </p:txBody>
      </p:sp>
      <p:sp>
        <p:nvSpPr>
          <p:cNvPr id="9" name="Text 6"/>
          <p:cNvSpPr/>
          <p:nvPr/>
        </p:nvSpPr>
        <p:spPr>
          <a:xfrm>
            <a:off x="5940977" y="3036518"/>
            <a:ext cx="1426539" cy="440895"/>
          </a:xfrm>
          <a:prstGeom prst="rect">
            <a:avLst/>
          </a:prstGeom>
          <a:noFill/>
          <a:ln/>
        </p:spPr>
        <p:txBody>
          <a:bodyPr wrap="square" lIns="0" tIns="0" rIns="0" bIns="0" rtlCol="0" anchor="t">
            <a:normAutofit/>
          </a:bodyPr>
          <a:lstStyle/>
          <a:p>
            <a:pPr marL="0" indent="0" algn="ctr">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Review &amp; Monitor</a:t>
            </a:r>
            <a:endParaRPr lang="en-US" sz="1350" dirty="0"/>
          </a:p>
        </p:txBody>
      </p:sp>
      <p:sp>
        <p:nvSpPr>
          <p:cNvPr id="10" name="Text 7"/>
          <p:cNvSpPr/>
          <p:nvPr/>
        </p:nvSpPr>
        <p:spPr>
          <a:xfrm>
            <a:off x="5940977" y="3540117"/>
            <a:ext cx="1426539" cy="661342"/>
          </a:xfrm>
          <a:prstGeom prst="rect">
            <a:avLst/>
          </a:prstGeom>
          <a:noFill/>
          <a:ln/>
        </p:spPr>
        <p:txBody>
          <a:bodyPr wrap="square" lIns="0" tIns="0" rIns="0" bIns="0" rtlCol="0" anchor="t">
            <a:normAutofit/>
          </a:bodyPr>
          <a:lstStyle/>
          <a:p>
            <a:pPr marL="0" indent="0" algn="ctr">
              <a:lnSpc>
                <a:spcPct val="98000"/>
              </a:lnSpc>
              <a:buNone/>
            </a:pPr>
            <a:r>
              <a:rPr lang="en-US" sz="1100" dirty="0">
                <a:solidFill>
                  <a:srgbClr val="4B4A4A"/>
                </a:solidFill>
                <a:latin typeface="Geist" pitchFamily="34" charset="0"/>
                <a:ea typeface="Geist" pitchFamily="34" charset="-122"/>
                <a:cs typeface="Geist" pitchFamily="34" charset="-120"/>
              </a:rPr>
              <a:t>Supervisor approves; GIS and dashboard updated for all asset categories</a:t>
            </a:r>
            <a:endParaRPr lang="en-US" sz="1100" dirty="0"/>
          </a:p>
        </p:txBody>
      </p:sp>
      <p:sp>
        <p:nvSpPr>
          <p:cNvPr id="11" name="Text 8"/>
          <p:cNvSpPr/>
          <p:nvPr/>
        </p:nvSpPr>
        <p:spPr>
          <a:xfrm>
            <a:off x="496119" y="4187800"/>
            <a:ext cx="8151763" cy="558105"/>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4B4A4A"/>
                </a:solidFill>
                <a:latin typeface="Geist" pitchFamily="34" charset="0"/>
                <a:ea typeface="Geist" pitchFamily="34" charset="-122"/>
                <a:cs typeface="Geist" pitchFamily="34" charset="-120"/>
              </a:rPr>
              <a:t>The diagram captures the full operational flow from assignment to city-level monitoring. The system tracks all four sanitation asset types—road, garbage point, toilet, and park—while storing metadata such as GPS, timestamp, worker ID, photo, and asset type to support verification, escalation, and reporting.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3600450" cy="51435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3925119" y="407863"/>
            <a:ext cx="4722763" cy="980256"/>
          </a:xfrm>
          <a:prstGeom prst="rect">
            <a:avLst/>
          </a:prstGeom>
          <a:noFill/>
          <a:ln/>
        </p:spPr>
        <p:txBody>
          <a:bodyPr wrap="square" lIns="0" tIns="0" rIns="0" bIns="0" rtlCol="0" anchor="t">
            <a:normAutofit/>
          </a:bodyPr>
          <a:lstStyle/>
          <a:p>
            <a:pPr marL="0" indent="0" algn="l">
              <a:lnSpc>
                <a:spcPct val="104000"/>
              </a:lnSpc>
              <a:buNone/>
            </a:pPr>
            <a:r>
              <a:rPr lang="en-US" sz="2050" b="1" dirty="0">
                <a:solidFill>
                  <a:srgbClr val="006747"/>
                </a:solidFill>
                <a:latin typeface="Noto Serif Bold" pitchFamily="34" charset="0"/>
                <a:ea typeface="Noto Serif Bold" pitchFamily="34" charset="-122"/>
                <a:cs typeface="Noto Serif Bold" pitchFamily="34" charset="-120"/>
              </a:rPr>
              <a:t>GIS Sanitation Asset Status Visualization — Color-Based Monitoring</a:t>
            </a:r>
            <a:endParaRPr lang="en-US" sz="2050" dirty="0"/>
          </a:p>
        </p:txBody>
      </p:sp>
      <p:sp>
        <p:nvSpPr>
          <p:cNvPr id="4" name="Shape 1"/>
          <p:cNvSpPr/>
          <p:nvPr/>
        </p:nvSpPr>
        <p:spPr>
          <a:xfrm>
            <a:off x="3925119" y="1568797"/>
            <a:ext cx="4722763" cy="1891605"/>
          </a:xfrm>
          <a:prstGeom prst="roundRect">
            <a:avLst>
              <a:gd name="adj" fmla="val 6218"/>
            </a:avLst>
          </a:prstGeom>
          <a:solidFill>
            <a:srgbClr val="D1EFE4"/>
          </a:solidFill>
          <a:ln w="4763">
            <a:solidFill>
              <a:srgbClr val="B7D5CA"/>
            </a:solidFill>
            <a:prstDash val="solid"/>
          </a:ln>
        </p:spPr>
      </p:sp>
      <p:sp>
        <p:nvSpPr>
          <p:cNvPr id="5" name="Shape 2"/>
          <p:cNvSpPr/>
          <p:nvPr/>
        </p:nvSpPr>
        <p:spPr>
          <a:xfrm>
            <a:off x="3929881" y="1573560"/>
            <a:ext cx="2356619" cy="1143521"/>
          </a:xfrm>
          <a:custGeom>
            <a:avLst/>
            <a:gdLst/>
            <a:ahLst/>
            <a:cxnLst/>
            <a:rect l="l" t="t" r="r" b="b"/>
            <a:pathLst>
              <a:path w="2356619" h="1143521">
                <a:moveTo>
                  <a:pt x="98019" y="0"/>
                </a:moveTo>
                <a:lnTo>
                  <a:pt x="2356619" y="0"/>
                </a:lnTo>
                <a:lnTo>
                  <a:pt x="2356619" y="1143521"/>
                </a:lnTo>
                <a:lnTo>
                  <a:pt x="0" y="1143521"/>
                </a:lnTo>
                <a:lnTo>
                  <a:pt x="0" y="98019"/>
                </a:lnTo>
                <a:arcTo wR="98019" hR="98019" stAng="10800000" swAng="5400000"/>
                <a:close/>
              </a:path>
            </a:pathLst>
          </a:custGeom>
          <a:solidFill>
            <a:srgbClr val="D1EFE4"/>
          </a:solidFill>
          <a:ln/>
        </p:spPr>
      </p:sp>
      <p:sp>
        <p:nvSpPr>
          <p:cNvPr id="6" name="Text 3"/>
          <p:cNvSpPr/>
          <p:nvPr/>
        </p:nvSpPr>
        <p:spPr>
          <a:xfrm>
            <a:off x="4060552" y="1704231"/>
            <a:ext cx="2095277" cy="204118"/>
          </a:xfrm>
          <a:prstGeom prst="rect">
            <a:avLst/>
          </a:prstGeom>
          <a:noFill/>
          <a:ln/>
        </p:spPr>
        <p:txBody>
          <a:bodyPr wrap="none" lIns="0" tIns="0" rIns="0" bIns="0" rtlCol="0" anchor="t"/>
          <a:lstStyle/>
          <a:p>
            <a:pPr marL="0" indent="0" algn="l">
              <a:lnSpc>
                <a:spcPct val="104000"/>
              </a:lnSpc>
              <a:buNone/>
            </a:pPr>
            <a:r>
              <a:rPr lang="en-US" sz="1250" b="1" dirty="0">
                <a:solidFill>
                  <a:srgbClr val="4B4A4A"/>
                </a:solidFill>
                <a:latin typeface="Noto Serif Bold" pitchFamily="34" charset="0"/>
                <a:ea typeface="Noto Serif Bold" pitchFamily="34" charset="-122"/>
                <a:cs typeface="Noto Serif Bold" pitchFamily="34" charset="-120"/>
              </a:rPr>
              <a:t>Red — Work Pending</a:t>
            </a:r>
            <a:endParaRPr lang="en-US" sz="1250" dirty="0"/>
          </a:p>
        </p:txBody>
      </p:sp>
      <p:sp>
        <p:nvSpPr>
          <p:cNvPr id="7" name="Text 4"/>
          <p:cNvSpPr/>
          <p:nvPr/>
        </p:nvSpPr>
        <p:spPr>
          <a:xfrm>
            <a:off x="4060552" y="1980605"/>
            <a:ext cx="2095277" cy="401687"/>
          </a:xfrm>
          <a:prstGeom prst="rect">
            <a:avLst/>
          </a:prstGeom>
          <a:noFill/>
          <a:ln/>
        </p:spPr>
        <p:txBody>
          <a:bodyPr wrap="square" lIns="0" tIns="0" rIns="0" bIns="0" rtlCol="0" anchor="t">
            <a:normAutofit/>
          </a:bodyPr>
          <a:lstStyle/>
          <a:p>
            <a:pPr marL="0" indent="0" algn="l">
              <a:lnSpc>
                <a:spcPct val="128000"/>
              </a:lnSpc>
              <a:buNone/>
            </a:pPr>
            <a:r>
              <a:rPr lang="en-US" sz="1000" dirty="0">
                <a:solidFill>
                  <a:srgbClr val="4B4A4A"/>
                </a:solidFill>
                <a:latin typeface="Geist" pitchFamily="34" charset="0"/>
                <a:ea typeface="Geist" pitchFamily="34" charset="-122"/>
                <a:cs typeface="Geist" pitchFamily="34" charset="-120"/>
              </a:rPr>
              <a:t>Road not cleaned. Triggers allocation or re-assignment.</a:t>
            </a:r>
            <a:endParaRPr lang="en-US" sz="1000" dirty="0"/>
          </a:p>
        </p:txBody>
      </p:sp>
      <p:sp>
        <p:nvSpPr>
          <p:cNvPr id="8" name="Shape 5"/>
          <p:cNvSpPr/>
          <p:nvPr/>
        </p:nvSpPr>
        <p:spPr>
          <a:xfrm>
            <a:off x="6286500" y="1573560"/>
            <a:ext cx="2356619" cy="1143521"/>
          </a:xfrm>
          <a:custGeom>
            <a:avLst/>
            <a:gdLst/>
            <a:ahLst/>
            <a:cxnLst/>
            <a:rect l="l" t="t" r="r" b="b"/>
            <a:pathLst>
              <a:path w="2356619" h="1143521">
                <a:moveTo>
                  <a:pt x="0" y="0"/>
                </a:moveTo>
                <a:lnTo>
                  <a:pt x="2258600" y="0"/>
                </a:lnTo>
                <a:arcTo wR="98019" hR="98019" stAng="16200000" swAng="5400000"/>
                <a:lnTo>
                  <a:pt x="2356619" y="1143521"/>
                </a:lnTo>
                <a:lnTo>
                  <a:pt x="0" y="1143521"/>
                </a:lnTo>
                <a:lnTo>
                  <a:pt x="0" y="0"/>
                </a:lnTo>
                <a:close/>
              </a:path>
            </a:pathLst>
          </a:custGeom>
          <a:solidFill>
            <a:srgbClr val="D1EFE4"/>
          </a:solidFill>
          <a:ln/>
        </p:spPr>
      </p:sp>
      <p:sp>
        <p:nvSpPr>
          <p:cNvPr id="9" name="Shape 6"/>
          <p:cNvSpPr/>
          <p:nvPr/>
        </p:nvSpPr>
        <p:spPr>
          <a:xfrm>
            <a:off x="6286500" y="1573560"/>
            <a:ext cx="14288" cy="1143521"/>
          </a:xfrm>
          <a:prstGeom prst="roundRect">
            <a:avLst>
              <a:gd name="adj" fmla="val 49998"/>
            </a:avLst>
          </a:prstGeom>
          <a:solidFill>
            <a:srgbClr val="B7D5CA"/>
          </a:solidFill>
          <a:ln/>
        </p:spPr>
      </p:sp>
      <p:sp>
        <p:nvSpPr>
          <p:cNvPr id="10" name="Text 7"/>
          <p:cNvSpPr/>
          <p:nvPr/>
        </p:nvSpPr>
        <p:spPr>
          <a:xfrm>
            <a:off x="6417171" y="1704231"/>
            <a:ext cx="2095277" cy="408236"/>
          </a:xfrm>
          <a:prstGeom prst="rect">
            <a:avLst/>
          </a:prstGeom>
          <a:noFill/>
          <a:ln/>
        </p:spPr>
        <p:txBody>
          <a:bodyPr wrap="square" lIns="0" tIns="0" rIns="0" bIns="0" rtlCol="0" anchor="t">
            <a:normAutofit/>
          </a:bodyPr>
          <a:lstStyle/>
          <a:p>
            <a:pPr marL="0" indent="0" algn="l">
              <a:lnSpc>
                <a:spcPct val="104000"/>
              </a:lnSpc>
              <a:buNone/>
            </a:pPr>
            <a:r>
              <a:rPr lang="en-US" sz="1250" b="1" dirty="0">
                <a:solidFill>
                  <a:srgbClr val="4B4A4A"/>
                </a:solidFill>
                <a:latin typeface="Noto Serif Bold" pitchFamily="34" charset="0"/>
                <a:ea typeface="Noto Serif Bold" pitchFamily="34" charset="-122"/>
                <a:cs typeface="Noto Serif Bold" pitchFamily="34" charset="-120"/>
              </a:rPr>
              <a:t>Yellow — Awaiting Verification</a:t>
            </a:r>
            <a:endParaRPr lang="en-US" sz="1250" dirty="0"/>
          </a:p>
        </p:txBody>
      </p:sp>
      <p:sp>
        <p:nvSpPr>
          <p:cNvPr id="11" name="Text 8"/>
          <p:cNvSpPr/>
          <p:nvPr/>
        </p:nvSpPr>
        <p:spPr>
          <a:xfrm>
            <a:off x="6417171" y="2184722"/>
            <a:ext cx="2095277" cy="401687"/>
          </a:xfrm>
          <a:prstGeom prst="rect">
            <a:avLst/>
          </a:prstGeom>
          <a:noFill/>
          <a:ln/>
        </p:spPr>
        <p:txBody>
          <a:bodyPr wrap="square" lIns="0" tIns="0" rIns="0" bIns="0" rtlCol="0" anchor="t">
            <a:normAutofit/>
          </a:bodyPr>
          <a:lstStyle/>
          <a:p>
            <a:pPr marL="0" indent="0" algn="l">
              <a:lnSpc>
                <a:spcPct val="128000"/>
              </a:lnSpc>
              <a:buNone/>
            </a:pPr>
            <a:r>
              <a:rPr lang="en-US" sz="1000" dirty="0">
                <a:solidFill>
                  <a:srgbClr val="4B4A4A"/>
                </a:solidFill>
                <a:latin typeface="Geist" pitchFamily="34" charset="0"/>
                <a:ea typeface="Geist" pitchFamily="34" charset="-122"/>
                <a:cs typeface="Geist" pitchFamily="34" charset="-120"/>
              </a:rPr>
              <a:t>Cleaning done; photo uploaded and pending supervisor review.</a:t>
            </a:r>
            <a:endParaRPr lang="en-US" sz="1000" dirty="0"/>
          </a:p>
        </p:txBody>
      </p:sp>
      <p:sp>
        <p:nvSpPr>
          <p:cNvPr id="12" name="Shape 9"/>
          <p:cNvSpPr/>
          <p:nvPr/>
        </p:nvSpPr>
        <p:spPr>
          <a:xfrm>
            <a:off x="3929881" y="2717081"/>
            <a:ext cx="4713238" cy="738560"/>
          </a:xfrm>
          <a:custGeom>
            <a:avLst/>
            <a:gdLst/>
            <a:ahLst/>
            <a:cxnLst/>
            <a:rect l="l" t="t" r="r" b="b"/>
            <a:pathLst>
              <a:path w="4713238" h="738560">
                <a:moveTo>
                  <a:pt x="0" y="0"/>
                </a:moveTo>
                <a:lnTo>
                  <a:pt x="4713238" y="0"/>
                </a:lnTo>
                <a:lnTo>
                  <a:pt x="4713238" y="640541"/>
                </a:lnTo>
                <a:arcTo wR="98019" hR="98019" stAng="0" swAng="5400000"/>
                <a:lnTo>
                  <a:pt x="98019" y="738560"/>
                </a:lnTo>
                <a:arcTo wR="98019" hR="98019" stAng="5400000" swAng="5400000"/>
                <a:lnTo>
                  <a:pt x="0" y="0"/>
                </a:lnTo>
                <a:close/>
              </a:path>
            </a:pathLst>
          </a:custGeom>
          <a:solidFill>
            <a:srgbClr val="D1EFE4"/>
          </a:solidFill>
          <a:ln/>
        </p:spPr>
      </p:sp>
      <p:sp>
        <p:nvSpPr>
          <p:cNvPr id="13" name="Shape 10"/>
          <p:cNvSpPr/>
          <p:nvPr/>
        </p:nvSpPr>
        <p:spPr>
          <a:xfrm>
            <a:off x="3929881" y="2717081"/>
            <a:ext cx="4713238" cy="14288"/>
          </a:xfrm>
          <a:prstGeom prst="roundRect">
            <a:avLst>
              <a:gd name="adj" fmla="val 49998"/>
            </a:avLst>
          </a:prstGeom>
          <a:solidFill>
            <a:srgbClr val="B7D5CA"/>
          </a:solidFill>
          <a:ln/>
        </p:spPr>
      </p:sp>
      <p:sp>
        <p:nvSpPr>
          <p:cNvPr id="14" name="Text 11"/>
          <p:cNvSpPr/>
          <p:nvPr/>
        </p:nvSpPr>
        <p:spPr>
          <a:xfrm>
            <a:off x="4060552" y="2847752"/>
            <a:ext cx="4451896" cy="204118"/>
          </a:xfrm>
          <a:prstGeom prst="rect">
            <a:avLst/>
          </a:prstGeom>
          <a:noFill/>
          <a:ln/>
        </p:spPr>
        <p:txBody>
          <a:bodyPr wrap="none" lIns="0" tIns="0" rIns="0" bIns="0" rtlCol="0" anchor="t"/>
          <a:lstStyle/>
          <a:p>
            <a:pPr marL="0" indent="0" algn="l">
              <a:lnSpc>
                <a:spcPct val="104000"/>
              </a:lnSpc>
              <a:buNone/>
            </a:pPr>
            <a:r>
              <a:rPr lang="en-US" sz="1250" b="1" dirty="0">
                <a:solidFill>
                  <a:srgbClr val="4B4A4A"/>
                </a:solidFill>
                <a:latin typeface="Noto Serif Bold" pitchFamily="34" charset="0"/>
                <a:ea typeface="Noto Serif Bold" pitchFamily="34" charset="-122"/>
                <a:cs typeface="Noto Serif Bold" pitchFamily="34" charset="-120"/>
              </a:rPr>
              <a:t>Green — Verified</a:t>
            </a:r>
            <a:endParaRPr lang="en-US" sz="1250" dirty="0"/>
          </a:p>
        </p:txBody>
      </p:sp>
      <p:sp>
        <p:nvSpPr>
          <p:cNvPr id="15" name="Text 12"/>
          <p:cNvSpPr/>
          <p:nvPr/>
        </p:nvSpPr>
        <p:spPr>
          <a:xfrm>
            <a:off x="4060552" y="3124126"/>
            <a:ext cx="4451896" cy="200844"/>
          </a:xfrm>
          <a:prstGeom prst="rect">
            <a:avLst/>
          </a:prstGeom>
          <a:noFill/>
          <a:ln/>
        </p:spPr>
        <p:txBody>
          <a:bodyPr wrap="none" lIns="0" tIns="0" rIns="0" bIns="0" rtlCol="0" anchor="t"/>
          <a:lstStyle/>
          <a:p>
            <a:pPr marL="0" indent="0" algn="l">
              <a:lnSpc>
                <a:spcPct val="128000"/>
              </a:lnSpc>
              <a:buNone/>
            </a:pPr>
            <a:r>
              <a:rPr lang="en-US" sz="1000" dirty="0">
                <a:solidFill>
                  <a:srgbClr val="4B4A4A"/>
                </a:solidFill>
                <a:latin typeface="Geist" pitchFamily="34" charset="0"/>
                <a:ea typeface="Geist" pitchFamily="34" charset="-122"/>
                <a:cs typeface="Geist" pitchFamily="34" charset="-120"/>
              </a:rPr>
              <a:t>Supervisor approved. Road status updated and closed for the day.</a:t>
            </a:r>
            <a:endParaRPr lang="en-US" sz="1000" dirty="0"/>
          </a:p>
        </p:txBody>
      </p:sp>
      <p:sp>
        <p:nvSpPr>
          <p:cNvPr id="16" name="Text 13"/>
          <p:cNvSpPr/>
          <p:nvPr/>
        </p:nvSpPr>
        <p:spPr>
          <a:xfrm>
            <a:off x="3925119" y="3595911"/>
            <a:ext cx="4722763" cy="1139726"/>
          </a:xfrm>
          <a:prstGeom prst="rect">
            <a:avLst/>
          </a:prstGeom>
          <a:noFill/>
          <a:ln/>
        </p:spPr>
        <p:txBody>
          <a:bodyPr wrap="square" lIns="0" tIns="0" rIns="0" bIns="0" rtlCol="0" anchor="t">
            <a:normAutofit/>
          </a:bodyPr>
          <a:lstStyle/>
          <a:p>
            <a:pPr marL="0" indent="0" algn="l">
              <a:lnSpc>
                <a:spcPct val="128000"/>
              </a:lnSpc>
              <a:spcAft>
                <a:spcPts val="1050"/>
              </a:spcAft>
              <a:buNone/>
            </a:pPr>
            <a:r>
              <a:rPr lang="en-US" sz="1000" dirty="0">
                <a:solidFill>
                  <a:srgbClr val="4B4A4A"/>
                </a:solidFill>
                <a:latin typeface="Geist" pitchFamily="34" charset="0"/>
                <a:ea typeface="Geist" pitchFamily="34" charset="-122"/>
                <a:cs typeface="Geist" pitchFamily="34" charset="-120"/>
              </a:rPr>
              <a:t>The color-coding applies across all sanitation assets, including roads, garbage vulnerable points, SBM toilets, and parks, making it easy to track field status at a glance.</a:t>
            </a:r>
            <a:endParaRPr lang="en-US" sz="1000" dirty="0"/>
          </a:p>
          <a:p>
            <a:pPr marL="0" indent="0" algn="l">
              <a:lnSpc>
                <a:spcPct val="128000"/>
              </a:lnSpc>
              <a:buNone/>
            </a:pPr>
            <a:r>
              <a:rPr lang="en-US" sz="1000" dirty="0">
                <a:solidFill>
                  <a:srgbClr val="4B4A4A"/>
                </a:solidFill>
                <a:latin typeface="Geist" pitchFamily="34" charset="0"/>
                <a:ea typeface="Geist" pitchFamily="34" charset="-122"/>
                <a:cs typeface="Geist" pitchFamily="34" charset="-120"/>
              </a:rPr>
              <a:t>Benefits: instant identification of pending assets, division-wise progress views, and faster operational responses for comprehensive sanitation coverage.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1045146"/>
            <a:ext cx="3053135" cy="3053135"/>
          </a:xfrm>
          <a:prstGeom prst="rect">
            <a:avLst/>
          </a:prstGeom>
        </p:spPr>
      </p:pic>
      <p:sp>
        <p:nvSpPr>
          <p:cNvPr id="3" name="Text 0"/>
          <p:cNvSpPr/>
          <p:nvPr/>
        </p:nvSpPr>
        <p:spPr>
          <a:xfrm>
            <a:off x="3899892" y="1047973"/>
            <a:ext cx="4752677" cy="354360"/>
          </a:xfrm>
          <a:prstGeom prst="rect">
            <a:avLst/>
          </a:prstGeom>
          <a:noFill/>
          <a:ln/>
        </p:spPr>
        <p:txBody>
          <a:bodyPr wrap="none" lIns="0" tIns="0" rIns="0" bIns="0" rtlCol="0" anchor="t"/>
          <a:lstStyle/>
          <a:p>
            <a:pPr marL="0" indent="0" algn="l">
              <a:lnSpc>
                <a:spcPct val="104000"/>
              </a:lnSpc>
              <a:buNone/>
            </a:pPr>
            <a:r>
              <a:rPr lang="en-US" sz="2200" b="1" dirty="0">
                <a:solidFill>
                  <a:srgbClr val="006747"/>
                </a:solidFill>
                <a:latin typeface="Noto Serif Bold" pitchFamily="34" charset="0"/>
                <a:ea typeface="Noto Serif Bold" pitchFamily="34" charset="-122"/>
                <a:cs typeface="Noto Serif Bold" pitchFamily="34" charset="-120"/>
              </a:rPr>
              <a:t>Jawan Mobile Application</a:t>
            </a:r>
            <a:endParaRPr lang="en-US" sz="2200" dirty="0"/>
          </a:p>
        </p:txBody>
      </p:sp>
      <p:sp>
        <p:nvSpPr>
          <p:cNvPr id="4" name="Text 1"/>
          <p:cNvSpPr/>
          <p:nvPr/>
        </p:nvSpPr>
        <p:spPr>
          <a:xfrm>
            <a:off x="3899892" y="1544092"/>
            <a:ext cx="4752677"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B4A4A"/>
                </a:solidFill>
                <a:latin typeface="Geist" pitchFamily="34" charset="0"/>
                <a:ea typeface="Geist" pitchFamily="34" charset="-122"/>
                <a:cs typeface="Geist" pitchFamily="34" charset="-120"/>
              </a:rPr>
              <a:t>The field app is lightweight and built for reliability on low-bandwidth networks. It supports multiple sanitation asset types: roads, garbage vulnerable points, SBM toilets, and parks. Key features support secure, auditable actions and simple workflows for frontline staff.</a:t>
            </a:r>
            <a:endParaRPr lang="en-US" sz="1100" dirty="0"/>
          </a:p>
        </p:txBody>
      </p:sp>
      <p:sp>
        <p:nvSpPr>
          <p:cNvPr id="5" name="Text 2"/>
          <p:cNvSpPr/>
          <p:nvPr/>
        </p:nvSpPr>
        <p:spPr>
          <a:xfrm>
            <a:off x="3899892" y="2578894"/>
            <a:ext cx="4752677" cy="1608683"/>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4B4A4A"/>
                </a:solidFill>
                <a:latin typeface="Geist" pitchFamily="34" charset="0"/>
                <a:ea typeface="Geist" pitchFamily="34" charset="-122"/>
                <a:cs typeface="Geist" pitchFamily="34" charset="-120"/>
              </a:rPr>
              <a:t>Asset type selection</a:t>
            </a:r>
            <a:endParaRPr lang="en-US" sz="1100" dirty="0"/>
          </a:p>
          <a:p>
            <a:pPr marL="223520" indent="-223520" algn="l">
              <a:lnSpc>
                <a:spcPct val="133000"/>
              </a:lnSpc>
              <a:buSzPct val="100000"/>
              <a:buChar char="•"/>
            </a:pPr>
            <a:r>
              <a:rPr lang="en-US" sz="1100" dirty="0">
                <a:solidFill>
                  <a:srgbClr val="4B4A4A"/>
                </a:solidFill>
                <a:latin typeface="Geist" pitchFamily="34" charset="0"/>
                <a:ea typeface="Geist" pitchFamily="34" charset="-122"/>
                <a:cs typeface="Geist" pitchFamily="34" charset="-120"/>
              </a:rPr>
              <a:t>Division-wise assignment for all asset categories</a:t>
            </a:r>
            <a:endParaRPr lang="en-US" sz="1100" dirty="0"/>
          </a:p>
          <a:p>
            <a:pPr marL="223520" indent="-223520" algn="l">
              <a:lnSpc>
                <a:spcPct val="133000"/>
              </a:lnSpc>
              <a:buSzPct val="100000"/>
              <a:buChar char="•"/>
            </a:pPr>
            <a:r>
              <a:rPr lang="en-US" sz="1100" dirty="0">
                <a:solidFill>
                  <a:srgbClr val="4B4A4A"/>
                </a:solidFill>
                <a:latin typeface="Geist" pitchFamily="34" charset="0"/>
                <a:ea typeface="Geist" pitchFamily="34" charset="-122"/>
                <a:cs typeface="Geist" pitchFamily="34" charset="-120"/>
              </a:rPr>
              <a:t>Automatic GPS capture and timestamping</a:t>
            </a:r>
            <a:endParaRPr lang="en-US" sz="1100" dirty="0"/>
          </a:p>
          <a:p>
            <a:pPr marL="223520" indent="-223520" algn="l">
              <a:lnSpc>
                <a:spcPct val="133000"/>
              </a:lnSpc>
              <a:buSzPct val="100000"/>
              <a:buChar char="•"/>
            </a:pPr>
            <a:r>
              <a:rPr lang="en-US" sz="1100" dirty="0">
                <a:solidFill>
                  <a:srgbClr val="4B4A4A"/>
                </a:solidFill>
                <a:latin typeface="Geist" pitchFamily="34" charset="0"/>
                <a:ea typeface="Geist" pitchFamily="34" charset="-122"/>
                <a:cs typeface="Geist" pitchFamily="34" charset="-120"/>
              </a:rPr>
              <a:t>Geo-tagged photo upload with asset type tagging</a:t>
            </a:r>
            <a:endParaRPr lang="en-US" sz="1100" dirty="0"/>
          </a:p>
          <a:p>
            <a:pPr marL="223520" indent="-223520" algn="l">
              <a:lnSpc>
                <a:spcPct val="133000"/>
              </a:lnSpc>
              <a:buSzPct val="100000"/>
              <a:buChar char="•"/>
            </a:pPr>
            <a:r>
              <a:rPr lang="en-US" sz="1100" dirty="0">
                <a:solidFill>
                  <a:srgbClr val="4B4A4A"/>
                </a:solidFill>
                <a:latin typeface="Geist" pitchFamily="34" charset="0"/>
                <a:ea typeface="Geist" pitchFamily="34" charset="-122"/>
                <a:cs typeface="Geist" pitchFamily="34" charset="-120"/>
              </a:rPr>
              <a:t>Offline mode with queued submissions</a:t>
            </a:r>
            <a:endParaRPr lang="en-US" sz="1100" dirty="0"/>
          </a:p>
          <a:p>
            <a:pPr marL="223520" indent="-223520" algn="l">
              <a:lnSpc>
                <a:spcPct val="133000"/>
              </a:lnSpc>
              <a:buSzPct val="100000"/>
              <a:buChar char="•"/>
            </a:pPr>
            <a:r>
              <a:rPr lang="en-US" sz="1100" dirty="0">
                <a:solidFill>
                  <a:srgbClr val="4B4A4A"/>
                </a:solidFill>
                <a:latin typeface="Geist" pitchFamily="34" charset="0"/>
                <a:ea typeface="Geist" pitchFamily="34" charset="-122"/>
                <a:cs typeface="Geist" pitchFamily="34" charset="-120"/>
              </a:rPr>
              <a:t>Instant status feedback after upload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4749701" y="895648"/>
            <a:ext cx="3902943" cy="708720"/>
          </a:xfrm>
          <a:prstGeom prst="rect">
            <a:avLst/>
          </a:prstGeom>
          <a:noFill/>
          <a:ln/>
        </p:spPr>
        <p:txBody>
          <a:bodyPr wrap="square" lIns="0" tIns="0" rIns="0" bIns="0" rtlCol="0" anchor="t">
            <a:normAutofit/>
          </a:bodyPr>
          <a:lstStyle/>
          <a:p>
            <a:pPr marL="0" indent="0" algn="l">
              <a:lnSpc>
                <a:spcPct val="104000"/>
              </a:lnSpc>
              <a:buNone/>
            </a:pPr>
            <a:r>
              <a:rPr lang="en-US" sz="2200" b="1" dirty="0">
                <a:solidFill>
                  <a:srgbClr val="006747"/>
                </a:solidFill>
                <a:latin typeface="Noto Serif Bold" pitchFamily="34" charset="0"/>
                <a:ea typeface="Noto Serif Bold" pitchFamily="34" charset="-122"/>
                <a:cs typeface="Noto Serif Bold" pitchFamily="34" charset="-120"/>
              </a:rPr>
              <a:t>Sanitary Inspector Dashboard</a:t>
            </a:r>
            <a:endParaRPr lang="en-US" sz="2200" dirty="0"/>
          </a:p>
        </p:txBody>
      </p:sp>
      <p:sp>
        <p:nvSpPr>
          <p:cNvPr id="4" name="Text 1"/>
          <p:cNvSpPr/>
          <p:nvPr/>
        </p:nvSpPr>
        <p:spPr>
          <a:xfrm>
            <a:off x="4749701" y="1746126"/>
            <a:ext cx="3902943"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B4A4A"/>
                </a:solidFill>
                <a:latin typeface="Geist" pitchFamily="34" charset="0"/>
                <a:ea typeface="Geist" pitchFamily="34" charset="-122"/>
                <a:cs typeface="Geist" pitchFamily="34" charset="-120"/>
              </a:rPr>
              <a:t>Supervisors receive curated submissions for verification across all sanitation asset types (roads, garbage vulnerable points, SBM toilets, parks), enabling consistent quality control and rapid feedback to field teams.</a:t>
            </a:r>
            <a:endParaRPr lang="en-US" sz="1100" dirty="0"/>
          </a:p>
        </p:txBody>
      </p:sp>
      <p:sp>
        <p:nvSpPr>
          <p:cNvPr id="5" name="Text 2"/>
          <p:cNvSpPr/>
          <p:nvPr/>
        </p:nvSpPr>
        <p:spPr>
          <a:xfrm>
            <a:off x="4749701" y="2780928"/>
            <a:ext cx="3902943" cy="1559123"/>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4B4A4A"/>
                </a:solidFill>
                <a:latin typeface="Geist" pitchFamily="34" charset="0"/>
                <a:ea typeface="Geist" pitchFamily="34" charset="-122"/>
                <a:cs typeface="Geist" pitchFamily="34" charset="-120"/>
              </a:rPr>
              <a:t>Photo review queue with asset type and metadata</a:t>
            </a:r>
            <a:endParaRPr lang="en-US" sz="1100" dirty="0"/>
          </a:p>
          <a:p>
            <a:pPr marL="223520" indent="-223520" algn="l">
              <a:lnSpc>
                <a:spcPct val="133000"/>
              </a:lnSpc>
              <a:buSzPct val="100000"/>
              <a:buChar char="•"/>
            </a:pPr>
            <a:r>
              <a:rPr lang="en-US" sz="1100" dirty="0">
                <a:solidFill>
                  <a:srgbClr val="4B4A4A"/>
                </a:solidFill>
                <a:latin typeface="Geist" pitchFamily="34" charset="0"/>
                <a:ea typeface="Geist" pitchFamily="34" charset="-122"/>
                <a:cs typeface="Geist" pitchFamily="34" charset="-120"/>
              </a:rPr>
              <a:t>Approve/reject with comments and reassign options</a:t>
            </a:r>
            <a:endParaRPr lang="en-US" sz="1100" dirty="0"/>
          </a:p>
          <a:p>
            <a:pPr marL="223520" indent="-223520" algn="l">
              <a:lnSpc>
                <a:spcPct val="133000"/>
              </a:lnSpc>
              <a:buSzPct val="100000"/>
              <a:buChar char="•"/>
            </a:pPr>
            <a:r>
              <a:rPr lang="en-US" sz="1100" dirty="0">
                <a:solidFill>
                  <a:srgbClr val="4B4A4A"/>
                </a:solidFill>
                <a:latin typeface="Geist" pitchFamily="34" charset="0"/>
                <a:ea typeface="Geist" pitchFamily="34" charset="-122"/>
                <a:cs typeface="Geist" pitchFamily="34" charset="-120"/>
              </a:rPr>
              <a:t>Track pending assets across all categories and daily completion rates</a:t>
            </a:r>
            <a:endParaRPr lang="en-US" sz="1100" dirty="0"/>
          </a:p>
          <a:p>
            <a:pPr marL="223520" indent="-223520" algn="l">
              <a:lnSpc>
                <a:spcPct val="133000"/>
              </a:lnSpc>
              <a:buSzPct val="100000"/>
              <a:buChar char="•"/>
            </a:pPr>
            <a:r>
              <a:rPr lang="en-US" sz="1100" dirty="0">
                <a:solidFill>
                  <a:srgbClr val="4B4A4A"/>
                </a:solidFill>
                <a:latin typeface="Geist" pitchFamily="34" charset="0"/>
                <a:ea typeface="Geist" pitchFamily="34" charset="-122"/>
                <a:cs typeface="Geist" pitchFamily="34" charset="-120"/>
              </a:rPr>
              <a:t>Asset type and division-level filters</a:t>
            </a:r>
            <a:endParaRPr lang="en-US" sz="1100" dirty="0"/>
          </a:p>
          <a:p>
            <a:pPr marL="223520" indent="-223520" algn="l">
              <a:lnSpc>
                <a:spcPct val="133000"/>
              </a:lnSpc>
              <a:buSzPct val="100000"/>
              <a:buChar char="•"/>
            </a:pPr>
            <a:r>
              <a:rPr lang="en-US" sz="1100" dirty="0">
                <a:solidFill>
                  <a:srgbClr val="4B4A4A"/>
                </a:solidFill>
                <a:latin typeface="Geist" pitchFamily="34" charset="0"/>
                <a:ea typeface="Geist" pitchFamily="34" charset="-122"/>
                <a:cs typeface="Geist" pitchFamily="34" charset="-120"/>
              </a:rPr>
              <a:t>Exportable reports by asset category</a:t>
            </a:r>
            <a:endParaRPr lang="en-US" sz="1100" dirty="0"/>
          </a:p>
        </p:txBody>
      </p:sp>
      <p:pic>
        <p:nvPicPr>
          <p:cNvPr id="7" name="Picture 6">
            <a:extLst>
              <a:ext uri="{FF2B5EF4-FFF2-40B4-BE49-F238E27FC236}">
                <a16:creationId xmlns:a16="http://schemas.microsoft.com/office/drawing/2014/main" id="{CFA19613-799E-CE4A-FD79-5FE3A394E361}"/>
              </a:ext>
            </a:extLst>
          </p:cNvPr>
          <p:cNvPicPr>
            <a:picLocks noChangeAspect="1"/>
          </p:cNvPicPr>
          <p:nvPr/>
        </p:nvPicPr>
        <p:blipFill>
          <a:blip r:embed="rId3"/>
          <a:stretch>
            <a:fillRect/>
          </a:stretch>
        </p:blipFill>
        <p:spPr>
          <a:xfrm>
            <a:off x="851925" y="81632"/>
            <a:ext cx="2578590" cy="48637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5543550" y="0"/>
            <a:ext cx="3600450" cy="51435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496119" y="419770"/>
            <a:ext cx="4722763" cy="708720"/>
          </a:xfrm>
          <a:prstGeom prst="rect">
            <a:avLst/>
          </a:prstGeom>
          <a:noFill/>
          <a:ln/>
        </p:spPr>
        <p:txBody>
          <a:bodyPr wrap="square" lIns="0" tIns="0" rIns="0" bIns="0" rtlCol="0" anchor="t">
            <a:normAutofit/>
          </a:bodyPr>
          <a:lstStyle/>
          <a:p>
            <a:pPr marL="0" indent="0" algn="l">
              <a:lnSpc>
                <a:spcPct val="104000"/>
              </a:lnSpc>
              <a:buNone/>
            </a:pPr>
            <a:r>
              <a:rPr lang="en-US" sz="2200" b="1" dirty="0">
                <a:solidFill>
                  <a:srgbClr val="006747"/>
                </a:solidFill>
                <a:latin typeface="Noto Serif Bold" pitchFamily="34" charset="0"/>
                <a:ea typeface="Noto Serif Bold" pitchFamily="34" charset="-122"/>
                <a:cs typeface="Noto Serif Bold" pitchFamily="34" charset="-120"/>
              </a:rPr>
              <a:t>Commissioner Dashboard — City-wide Oversight</a:t>
            </a:r>
            <a:endParaRPr lang="en-US" sz="2200" dirty="0"/>
          </a:p>
        </p:txBody>
      </p:sp>
      <p:sp>
        <p:nvSpPr>
          <p:cNvPr id="4" name="Text 1"/>
          <p:cNvSpPr/>
          <p:nvPr/>
        </p:nvSpPr>
        <p:spPr>
          <a:xfrm>
            <a:off x="496119" y="1341090"/>
            <a:ext cx="4722763"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B4A4A"/>
                </a:solidFill>
                <a:latin typeface="Geist" pitchFamily="34" charset="0"/>
                <a:ea typeface="Geist" pitchFamily="34" charset="-122"/>
                <a:cs typeface="Geist" pitchFamily="34" charset="-120"/>
              </a:rPr>
              <a:t>Designed for senior officials and municipal commissioners to monitor comprehensive sanitation performance city-wide across roads, garbage vulnerable points, SBM toilets, and parks, and drive policy or resource allocation decisions.</a:t>
            </a:r>
            <a:endParaRPr lang="en-US" sz="1100" dirty="0"/>
          </a:p>
        </p:txBody>
      </p:sp>
      <p:sp>
        <p:nvSpPr>
          <p:cNvPr id="5" name="Text 2"/>
          <p:cNvSpPr/>
          <p:nvPr/>
        </p:nvSpPr>
        <p:spPr>
          <a:xfrm>
            <a:off x="496119" y="2478658"/>
            <a:ext cx="2272754" cy="467841"/>
          </a:xfrm>
          <a:prstGeom prst="rect">
            <a:avLst/>
          </a:prstGeom>
          <a:noFill/>
          <a:ln/>
        </p:spPr>
        <p:txBody>
          <a:bodyPr wrap="none" lIns="0" tIns="0" rIns="0" bIns="0" rtlCol="0" anchor="t"/>
          <a:lstStyle/>
          <a:p>
            <a:pPr marL="0" indent="0" algn="ctr">
              <a:lnSpc>
                <a:spcPct val="83000"/>
              </a:lnSpc>
              <a:buNone/>
            </a:pPr>
            <a:r>
              <a:rPr lang="en-US" sz="3650" b="1" dirty="0">
                <a:solidFill>
                  <a:srgbClr val="4B4A4A"/>
                </a:solidFill>
                <a:latin typeface="Noto Serif Bold" pitchFamily="34" charset="0"/>
                <a:ea typeface="Noto Serif Bold" pitchFamily="34" charset="-122"/>
                <a:cs typeface="Noto Serif Bold" pitchFamily="34" charset="-120"/>
              </a:rPr>
              <a:t>98%</a:t>
            </a:r>
            <a:endParaRPr lang="en-US" sz="3650" dirty="0"/>
          </a:p>
        </p:txBody>
      </p:sp>
      <p:sp>
        <p:nvSpPr>
          <p:cNvPr id="6" name="Text 3"/>
          <p:cNvSpPr/>
          <p:nvPr/>
        </p:nvSpPr>
        <p:spPr>
          <a:xfrm>
            <a:off x="496119" y="3123605"/>
            <a:ext cx="2272754" cy="221456"/>
          </a:xfrm>
          <a:prstGeom prst="rect">
            <a:avLst/>
          </a:prstGeom>
          <a:noFill/>
          <a:ln/>
        </p:spPr>
        <p:txBody>
          <a:bodyPr wrap="none" lIns="0" tIns="0" rIns="0" bIns="0" rtlCol="0" anchor="t"/>
          <a:lstStyle/>
          <a:p>
            <a:pPr marL="0" indent="0" algn="ctr">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Daily Coverage</a:t>
            </a:r>
            <a:endParaRPr lang="en-US" sz="1350" dirty="0"/>
          </a:p>
        </p:txBody>
      </p:sp>
      <p:sp>
        <p:nvSpPr>
          <p:cNvPr id="7" name="Text 4"/>
          <p:cNvSpPr/>
          <p:nvPr/>
        </p:nvSpPr>
        <p:spPr>
          <a:xfrm>
            <a:off x="496119" y="3430116"/>
            <a:ext cx="2272754" cy="680442"/>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4B4A4A"/>
                </a:solidFill>
                <a:latin typeface="Geist" pitchFamily="34" charset="0"/>
                <a:ea typeface="Geist" pitchFamily="34" charset="-122"/>
                <a:cs typeface="Geist" pitchFamily="34" charset="-120"/>
              </a:rPr>
              <a:t>Percent of assigned sanitation assets visited across all categories.</a:t>
            </a:r>
            <a:endParaRPr lang="en-US" sz="1100" dirty="0"/>
          </a:p>
        </p:txBody>
      </p:sp>
      <p:sp>
        <p:nvSpPr>
          <p:cNvPr id="8" name="Text 5"/>
          <p:cNvSpPr/>
          <p:nvPr/>
        </p:nvSpPr>
        <p:spPr>
          <a:xfrm>
            <a:off x="2946053" y="2478658"/>
            <a:ext cx="2272829" cy="467841"/>
          </a:xfrm>
          <a:prstGeom prst="rect">
            <a:avLst/>
          </a:prstGeom>
          <a:noFill/>
          <a:ln/>
        </p:spPr>
        <p:txBody>
          <a:bodyPr wrap="none" lIns="0" tIns="0" rIns="0" bIns="0" rtlCol="0" anchor="t"/>
          <a:lstStyle/>
          <a:p>
            <a:pPr marL="0" indent="0" algn="ctr">
              <a:lnSpc>
                <a:spcPct val="83000"/>
              </a:lnSpc>
              <a:buNone/>
            </a:pPr>
            <a:r>
              <a:rPr lang="en-US" sz="3650" b="1" dirty="0">
                <a:solidFill>
                  <a:srgbClr val="4B4A4A"/>
                </a:solidFill>
                <a:latin typeface="Noto Serif Bold" pitchFamily="34" charset="0"/>
                <a:ea typeface="Noto Serif Bold" pitchFamily="34" charset="-122"/>
                <a:cs typeface="Noto Serif Bold" pitchFamily="34" charset="-120"/>
              </a:rPr>
              <a:t>3</a:t>
            </a:r>
            <a:endParaRPr lang="en-US" sz="3650" dirty="0"/>
          </a:p>
        </p:txBody>
      </p:sp>
      <p:sp>
        <p:nvSpPr>
          <p:cNvPr id="9" name="Text 6"/>
          <p:cNvSpPr/>
          <p:nvPr/>
        </p:nvSpPr>
        <p:spPr>
          <a:xfrm>
            <a:off x="2946053" y="3123605"/>
            <a:ext cx="2272829" cy="221456"/>
          </a:xfrm>
          <a:prstGeom prst="rect">
            <a:avLst/>
          </a:prstGeom>
          <a:noFill/>
          <a:ln/>
        </p:spPr>
        <p:txBody>
          <a:bodyPr wrap="none" lIns="0" tIns="0" rIns="0" bIns="0" rtlCol="0" anchor="t"/>
          <a:lstStyle/>
          <a:p>
            <a:pPr marL="0" indent="0" algn="ctr">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Open Escalations</a:t>
            </a:r>
            <a:endParaRPr lang="en-US" sz="1350" dirty="0"/>
          </a:p>
        </p:txBody>
      </p:sp>
      <p:sp>
        <p:nvSpPr>
          <p:cNvPr id="10" name="Text 7"/>
          <p:cNvSpPr/>
          <p:nvPr/>
        </p:nvSpPr>
        <p:spPr>
          <a:xfrm>
            <a:off x="2946053" y="3430116"/>
            <a:ext cx="2272829"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4B4A4A"/>
                </a:solidFill>
                <a:latin typeface="Geist" pitchFamily="34" charset="0"/>
                <a:ea typeface="Geist" pitchFamily="34" charset="-122"/>
                <a:cs typeface="Geist" pitchFamily="34" charset="-120"/>
              </a:rPr>
              <a:t>Critical areas requiring managerial attention across all asset types.</a:t>
            </a:r>
            <a:endParaRPr lang="en-US" sz="1100" dirty="0"/>
          </a:p>
        </p:txBody>
      </p:sp>
      <p:sp>
        <p:nvSpPr>
          <p:cNvPr id="11" name="Text 8"/>
          <p:cNvSpPr/>
          <p:nvPr/>
        </p:nvSpPr>
        <p:spPr>
          <a:xfrm>
            <a:off x="496119" y="4270028"/>
            <a:ext cx="4722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B4A4A"/>
                </a:solidFill>
                <a:latin typeface="Geist" pitchFamily="34" charset="0"/>
                <a:ea typeface="Geist" pitchFamily="34" charset="-122"/>
                <a:cs typeface="Geist" pitchFamily="34" charset="-120"/>
              </a:rPr>
              <a:t>The dashboard supports trend analysis, asset type comparisons, division comparisons, and export of KPIs for oversight meetings.</a:t>
            </a:r>
            <a:endParaRPr lang="en-US" sz="1100" dirty="0"/>
          </a:p>
        </p:txBody>
      </p:sp>
      <p:pic>
        <p:nvPicPr>
          <p:cNvPr id="15" name="Picture 14">
            <a:extLst>
              <a:ext uri="{FF2B5EF4-FFF2-40B4-BE49-F238E27FC236}">
                <a16:creationId xmlns:a16="http://schemas.microsoft.com/office/drawing/2014/main" id="{42E9848D-2951-7807-BA88-4D88A1F2FAF4}"/>
              </a:ext>
            </a:extLst>
          </p:cNvPr>
          <p:cNvPicPr>
            <a:picLocks noChangeAspect="1"/>
          </p:cNvPicPr>
          <p:nvPr/>
        </p:nvPicPr>
        <p:blipFill>
          <a:blip r:embed="rId4"/>
          <a:stretch>
            <a:fillRect/>
          </a:stretch>
        </p:blipFill>
        <p:spPr>
          <a:xfrm>
            <a:off x="5396062" y="0"/>
            <a:ext cx="3747938"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1468710"/>
            <a:ext cx="3921844" cy="2206005"/>
          </a:xfrm>
          <a:prstGeom prst="rect">
            <a:avLst/>
          </a:prstGeom>
        </p:spPr>
      </p:pic>
      <p:sp>
        <p:nvSpPr>
          <p:cNvPr id="3" name="Text 0"/>
          <p:cNvSpPr/>
          <p:nvPr/>
        </p:nvSpPr>
        <p:spPr>
          <a:xfrm>
            <a:off x="4730800" y="517401"/>
            <a:ext cx="3921844" cy="946770"/>
          </a:xfrm>
          <a:prstGeom prst="rect">
            <a:avLst/>
          </a:prstGeom>
          <a:noFill/>
          <a:ln/>
        </p:spPr>
        <p:txBody>
          <a:bodyPr wrap="square" lIns="0" tIns="0" rIns="0" bIns="0" rtlCol="0" anchor="t">
            <a:normAutofit/>
          </a:bodyPr>
          <a:lstStyle/>
          <a:p>
            <a:pPr marL="0" indent="0" algn="l">
              <a:lnSpc>
                <a:spcPct val="104000"/>
              </a:lnSpc>
              <a:buNone/>
            </a:pPr>
            <a:r>
              <a:rPr lang="en-US" sz="1950" b="1" dirty="0">
                <a:solidFill>
                  <a:srgbClr val="006747"/>
                </a:solidFill>
                <a:latin typeface="Noto Serif Bold" pitchFamily="34" charset="0"/>
                <a:ea typeface="Noto Serif Bold" pitchFamily="34" charset="-122"/>
                <a:cs typeface="Noto Serif Bold" pitchFamily="34" charset="-120"/>
              </a:rPr>
              <a:t>Expected Impact on Ramagundam Municipal Corporation</a:t>
            </a:r>
            <a:endParaRPr lang="en-US" sz="1950" dirty="0"/>
          </a:p>
        </p:txBody>
      </p:sp>
      <p:sp>
        <p:nvSpPr>
          <p:cNvPr id="4" name="Text 1"/>
          <p:cNvSpPr/>
          <p:nvPr/>
        </p:nvSpPr>
        <p:spPr>
          <a:xfrm>
            <a:off x="4730800" y="1576611"/>
            <a:ext cx="3921844" cy="954732"/>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4B4A4A"/>
                </a:solidFill>
                <a:latin typeface="Geist" pitchFamily="34" charset="0"/>
                <a:ea typeface="Geist" pitchFamily="34" charset="-122"/>
                <a:cs typeface="Geist" pitchFamily="34" charset="-120"/>
              </a:rPr>
              <a:t>Implementation will strengthen comprehensive sanitation governance by enabling fast identification of issues across all asset types (roads, garbage vulnerable points, SBM toilets, parks), optimizing workforce deployment, and delivering measurable improvements in service quality.</a:t>
            </a:r>
            <a:endParaRPr lang="en-US" sz="950" dirty="0"/>
          </a:p>
        </p:txBody>
      </p:sp>
      <p:sp>
        <p:nvSpPr>
          <p:cNvPr id="5" name="Text 2"/>
          <p:cNvSpPr/>
          <p:nvPr/>
        </p:nvSpPr>
        <p:spPr>
          <a:xfrm>
            <a:off x="4730800" y="2632546"/>
            <a:ext cx="3921844" cy="2066627"/>
          </a:xfrm>
          <a:prstGeom prst="rect">
            <a:avLst/>
          </a:prstGeom>
          <a:noFill/>
          <a:ln/>
        </p:spPr>
        <p:txBody>
          <a:bodyPr wrap="square" lIns="0" tIns="0" rIns="0" bIns="0" rtlCol="0" anchor="t">
            <a:normAutofit/>
          </a:bodyPr>
          <a:lstStyle/>
          <a:p>
            <a:pPr marL="193040" indent="-193040" algn="l">
              <a:lnSpc>
                <a:spcPct val="126000"/>
              </a:lnSpc>
              <a:buSzPct val="100000"/>
              <a:buChar char="•"/>
            </a:pPr>
            <a:r>
              <a:rPr lang="en-US" sz="950" dirty="0">
                <a:solidFill>
                  <a:srgbClr val="4B4A4A"/>
                </a:solidFill>
                <a:latin typeface="Geist" pitchFamily="34" charset="0"/>
                <a:ea typeface="Geist" pitchFamily="34" charset="-122"/>
                <a:cs typeface="Geist" pitchFamily="34" charset="-120"/>
              </a:rPr>
              <a:t>Improved monitoring across all sanitation assets with faster remediation</a:t>
            </a:r>
            <a:endParaRPr lang="en-US" sz="950" dirty="0"/>
          </a:p>
          <a:p>
            <a:pPr marL="193040" indent="-193040" algn="l">
              <a:lnSpc>
                <a:spcPct val="126000"/>
              </a:lnSpc>
              <a:buSzPct val="100000"/>
              <a:buChar char="•"/>
            </a:pPr>
            <a:r>
              <a:rPr lang="en-US" sz="950" dirty="0">
                <a:solidFill>
                  <a:srgbClr val="4B4A4A"/>
                </a:solidFill>
                <a:latin typeface="Geist" pitchFamily="34" charset="0"/>
                <a:ea typeface="Geist" pitchFamily="34" charset="-122"/>
                <a:cs typeface="Geist" pitchFamily="34" charset="-120"/>
              </a:rPr>
              <a:t>Better resource utilization for multiple asset categories and reduced operational delays</a:t>
            </a:r>
            <a:endParaRPr lang="en-US" sz="950" dirty="0"/>
          </a:p>
          <a:p>
            <a:pPr marL="193040" indent="-193040" algn="l">
              <a:lnSpc>
                <a:spcPct val="126000"/>
              </a:lnSpc>
              <a:buSzPct val="100000"/>
              <a:buChar char="•"/>
            </a:pPr>
            <a:r>
              <a:rPr lang="en-US" sz="950" dirty="0">
                <a:solidFill>
                  <a:srgbClr val="4B4A4A"/>
                </a:solidFill>
                <a:latin typeface="Geist" pitchFamily="34" charset="0"/>
                <a:ea typeface="Geist" pitchFamily="34" charset="-122"/>
                <a:cs typeface="Geist" pitchFamily="34" charset="-120"/>
              </a:rPr>
              <a:t>Enhanced transparency supporting digital governance</a:t>
            </a:r>
            <a:endParaRPr lang="en-US" sz="950" dirty="0"/>
          </a:p>
          <a:p>
            <a:pPr marL="193040" indent="-193040" algn="l">
              <a:lnSpc>
                <a:spcPct val="126000"/>
              </a:lnSpc>
              <a:buSzPct val="100000"/>
              <a:buChar char="•"/>
            </a:pPr>
            <a:r>
              <a:rPr lang="en-US" sz="950" dirty="0">
                <a:solidFill>
                  <a:srgbClr val="4B4A4A"/>
                </a:solidFill>
                <a:latin typeface="Geist" pitchFamily="34" charset="0"/>
                <a:ea typeface="Geist" pitchFamily="34" charset="-122"/>
                <a:cs typeface="Geist" pitchFamily="34" charset="-120"/>
              </a:rPr>
              <a:t>Higher citizen satisfaction with comprehensive sanitation improvements</a:t>
            </a:r>
            <a:endParaRPr lang="en-US" sz="950" dirty="0"/>
          </a:p>
          <a:p>
            <a:pPr marL="193040" indent="-193040" algn="l">
              <a:lnSpc>
                <a:spcPct val="126000"/>
              </a:lnSpc>
              <a:buSzPct val="100000"/>
              <a:buChar char="•"/>
            </a:pPr>
            <a:r>
              <a:rPr lang="en-US" sz="950" dirty="0">
                <a:solidFill>
                  <a:srgbClr val="4B4A4A"/>
                </a:solidFill>
                <a:latin typeface="Geist" pitchFamily="34" charset="0"/>
                <a:ea typeface="Geist" pitchFamily="34" charset="-122"/>
                <a:cs typeface="Geist" pitchFamily="34" charset="-120"/>
              </a:rPr>
              <a:t>Actionable KPIs for continuous improvement across all asset types (coverage by category, verification time, backlog by asset type)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889</Words>
  <Application>Microsoft Office PowerPoint</Application>
  <PresentationFormat>On-screen Show (16:9)</PresentationFormat>
  <Paragraphs>82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Geist</vt:lpstr>
      <vt:lpstr>Noto Serif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perkari sahruday rao</dc:creator>
  <cp:lastModifiedBy>perkari sahruday rao</cp:lastModifiedBy>
  <cp:revision>3</cp:revision>
  <dcterms:created xsi:type="dcterms:W3CDTF">2026-07-31T11:55:08Z</dcterms:created>
  <dcterms:modified xsi:type="dcterms:W3CDTF">2026-07-31T15:33:38Z</dcterms:modified>
</cp:coreProperties>
</file>